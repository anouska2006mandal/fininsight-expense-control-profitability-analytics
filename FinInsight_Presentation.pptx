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8" r:id="rId7"/>
    <p:sldId id="261" r:id="rId8"/>
    <p:sldId id="269" r:id="rId9"/>
    <p:sldId id="262" r:id="rId10"/>
    <p:sldId id="263" r:id="rId11"/>
    <p:sldId id="264" r:id="rId12"/>
    <p:sldId id="270" r:id="rId13"/>
    <p:sldId id="265" r:id="rId14"/>
    <p:sldId id="271" r:id="rId15"/>
    <p:sldId id="266" r:id="rId16"/>
    <p:sldId id="267"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7" d="100"/>
          <a:sy n="67" d="100"/>
        </p:scale>
        <p:origin x="147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ouska Mandal" userId="be7b2427775277d3" providerId="LiveId" clId="{91AB21E8-3CAD-4EEB-9673-5E4E7D28E33A}"/>
    <pc:docChg chg="custSel modSld">
      <pc:chgData name="Anouska Mandal" userId="be7b2427775277d3" providerId="LiveId" clId="{91AB21E8-3CAD-4EEB-9673-5E4E7D28E33A}" dt="2026-07-16T18:40:20.093" v="11" actId="20577"/>
      <pc:docMkLst>
        <pc:docMk/>
      </pc:docMkLst>
      <pc:sldChg chg="modSp mod">
        <pc:chgData name="Anouska Mandal" userId="be7b2427775277d3" providerId="LiveId" clId="{91AB21E8-3CAD-4EEB-9673-5E4E7D28E33A}" dt="2026-07-16T18:40:20.093" v="11" actId="20577"/>
        <pc:sldMkLst>
          <pc:docMk/>
          <pc:sldMk cId="0" sldId="256"/>
        </pc:sldMkLst>
        <pc:spChg chg="mod">
          <ac:chgData name="Anouska Mandal" userId="be7b2427775277d3" providerId="LiveId" clId="{91AB21E8-3CAD-4EEB-9673-5E4E7D28E33A}" dt="2026-07-16T18:40:20.093" v="11" actId="20577"/>
          <ac:spMkLst>
            <pc:docMk/>
            <pc:sldMk cId="0" sldId="25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799" y="385763"/>
            <a:ext cx="7929563" cy="2228850"/>
          </a:xfrm>
        </p:spPr>
        <p:txBody>
          <a:bodyPr>
            <a:normAutofit/>
          </a:bodyPr>
          <a:lstStyle/>
          <a:p>
            <a:r>
              <a:rPr sz="3600" b="1" dirty="0" err="1">
                <a:solidFill>
                  <a:schemeClr val="tx2"/>
                </a:solidFill>
              </a:rPr>
              <a:t>FinInsight</a:t>
            </a:r>
            <a:r>
              <a:rPr sz="3600" b="1" dirty="0">
                <a:solidFill>
                  <a:schemeClr val="tx2"/>
                </a:solidFill>
              </a:rPr>
              <a:t>: Expense Control &amp; Profitability Analytics</a:t>
            </a:r>
          </a:p>
        </p:txBody>
      </p:sp>
      <p:sp>
        <p:nvSpPr>
          <p:cNvPr id="3" name="Subtitle 2"/>
          <p:cNvSpPr>
            <a:spLocks noGrp="1"/>
          </p:cNvSpPr>
          <p:nvPr>
            <p:ph type="subTitle" idx="1"/>
          </p:nvPr>
        </p:nvSpPr>
        <p:spPr>
          <a:xfrm>
            <a:off x="1371600" y="3271838"/>
            <a:ext cx="6400800" cy="2366962"/>
          </a:xfrm>
        </p:spPr>
        <p:txBody>
          <a:bodyPr>
            <a:normAutofit fontScale="92500" lnSpcReduction="20000"/>
          </a:bodyPr>
          <a:lstStyle/>
          <a:p>
            <a:r>
              <a:rPr sz="3500" b="1" dirty="0">
                <a:solidFill>
                  <a:schemeClr val="bg1">
                    <a:lumMod val="50000"/>
                  </a:schemeClr>
                </a:solidFill>
              </a:rPr>
              <a:t>Data Analytics Project</a:t>
            </a:r>
          </a:p>
          <a:p>
            <a:r>
              <a:rPr sz="3000" dirty="0">
                <a:solidFill>
                  <a:schemeClr val="tx1"/>
                </a:solidFill>
              </a:rPr>
              <a:t>Name: Anouska</a:t>
            </a:r>
            <a:r>
              <a:rPr lang="en-IN" sz="3000" dirty="0">
                <a:solidFill>
                  <a:schemeClr val="tx1"/>
                </a:solidFill>
              </a:rPr>
              <a:t> Mandal</a:t>
            </a:r>
          </a:p>
          <a:p>
            <a:r>
              <a:rPr lang="en-IN" sz="3000" dirty="0" err="1">
                <a:solidFill>
                  <a:schemeClr val="tx1"/>
                </a:solidFill>
              </a:rPr>
              <a:t>B.Tech</a:t>
            </a:r>
            <a:r>
              <a:rPr lang="en-IN" sz="3000" dirty="0">
                <a:solidFill>
                  <a:schemeClr val="tx1"/>
                </a:solidFill>
              </a:rPr>
              <a:t> CSE (E-Commerce Technology) </a:t>
            </a:r>
          </a:p>
          <a:p>
            <a:r>
              <a:rPr lang="en-IN" sz="3000" dirty="0">
                <a:solidFill>
                  <a:schemeClr val="tx1"/>
                </a:solidFill>
              </a:rPr>
              <a:t>VIT BHOPAL</a:t>
            </a:r>
          </a:p>
          <a:p>
            <a:r>
              <a:rPr lang="en-IN" sz="3000" dirty="0">
                <a:solidFill>
                  <a:schemeClr val="tx1"/>
                </a:solidFill>
              </a:rPr>
              <a:t> </a:t>
            </a:r>
            <a:r>
              <a:rPr lang="en-IN" sz="3000">
                <a:solidFill>
                  <a:schemeClr val="tx1"/>
                </a:solidFill>
              </a:rPr>
              <a:t>Submission Date – 20.07.26</a:t>
            </a:r>
            <a:endParaRPr sz="30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u="sng" dirty="0">
                <a:solidFill>
                  <a:schemeClr val="tx2"/>
                </a:solidFill>
              </a:rPr>
              <a:t>Project Overview</a:t>
            </a:r>
          </a:p>
        </p:txBody>
      </p:sp>
      <p:sp>
        <p:nvSpPr>
          <p:cNvPr id="3" name="Content Placeholder 2"/>
          <p:cNvSpPr>
            <a:spLocks noGrp="1"/>
          </p:cNvSpPr>
          <p:nvPr>
            <p:ph idx="1"/>
          </p:nvPr>
        </p:nvSpPr>
        <p:spPr>
          <a:xfrm>
            <a:off x="457200" y="1600200"/>
            <a:ext cx="8229600" cy="4525963"/>
          </a:xfrm>
        </p:spPr>
        <p:txBody>
          <a:bodyPr>
            <a:normAutofit fontScale="70000" lnSpcReduction="20000"/>
          </a:bodyPr>
          <a:lstStyle/>
          <a:p>
            <a:r>
              <a:rPr lang="en-IN" b="1" dirty="0" err="1"/>
              <a:t>FinInsight</a:t>
            </a:r>
            <a:r>
              <a:rPr lang="en-IN" dirty="0"/>
              <a:t> is a financial analytics project designed to monitor expenses, compare budgets with actual spending, and evaluate product profitability. The project uses Microsoft Excel for data analysis and dashboards, along with SQL for data storage and querying, helping organizations make informed financial decisions.</a:t>
            </a:r>
          </a:p>
          <a:p>
            <a:r>
              <a:rPr lang="en-IN" b="1" dirty="0"/>
              <a:t>Key Features</a:t>
            </a:r>
          </a:p>
          <a:p>
            <a:r>
              <a:rPr lang="en-IN" dirty="0"/>
              <a:t>Data cleaning and preparation </a:t>
            </a:r>
          </a:p>
          <a:p>
            <a:r>
              <a:rPr lang="en-IN" dirty="0"/>
              <a:t>KPI tracking </a:t>
            </a:r>
          </a:p>
          <a:p>
            <a:r>
              <a:rPr lang="en-IN" dirty="0"/>
              <a:t>Budget vs. Expense analysis </a:t>
            </a:r>
          </a:p>
          <a:p>
            <a:r>
              <a:rPr lang="en-IN" dirty="0"/>
              <a:t>Profitability analysis </a:t>
            </a:r>
          </a:p>
          <a:p>
            <a:r>
              <a:rPr lang="en-IN" dirty="0"/>
              <a:t>Interactive dashboard </a:t>
            </a:r>
          </a:p>
          <a:p>
            <a:r>
              <a:rPr lang="en-IN" dirty="0"/>
              <a:t>SQL database and analysis</a:t>
            </a:r>
          </a:p>
          <a:p>
            <a:pPr marL="914400" lvl="2" indent="0">
              <a:buNone/>
              <a:defRPr sz="2200"/>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solidFill>
                  <a:schemeClr val="tx2"/>
                </a:solidFill>
              </a:rPr>
              <a:t>Project Objectives</a:t>
            </a:r>
            <a:endParaRPr b="1" dirty="0">
              <a:solidFill>
                <a:schemeClr val="tx2"/>
              </a:solidFill>
            </a:endParaRPr>
          </a:p>
        </p:txBody>
      </p:sp>
      <p:sp>
        <p:nvSpPr>
          <p:cNvPr id="3" name="Content Placeholder 2"/>
          <p:cNvSpPr>
            <a:spLocks noGrp="1"/>
          </p:cNvSpPr>
          <p:nvPr>
            <p:ph idx="1"/>
          </p:nvPr>
        </p:nvSpPr>
        <p:spPr/>
        <p:txBody>
          <a:bodyPr>
            <a:normAutofit fontScale="85000" lnSpcReduction="20000"/>
          </a:bodyPr>
          <a:lstStyle/>
          <a:p>
            <a:pPr marL="914400" lvl="2" indent="0">
              <a:buNone/>
            </a:pPr>
            <a:endParaRPr lang="en-IN" b="1" dirty="0"/>
          </a:p>
          <a:p>
            <a:r>
              <a:rPr lang="en-IN" dirty="0"/>
              <a:t>The primary objectives of the </a:t>
            </a:r>
            <a:r>
              <a:rPr lang="en-IN" dirty="0" err="1"/>
              <a:t>FinInsight</a:t>
            </a:r>
            <a:r>
              <a:rPr lang="en-IN" dirty="0"/>
              <a:t> project are:</a:t>
            </a:r>
          </a:p>
          <a:p>
            <a:r>
              <a:rPr lang="en-IN" dirty="0" err="1"/>
              <a:t>Analyze</a:t>
            </a:r>
            <a:r>
              <a:rPr lang="en-IN" dirty="0"/>
              <a:t> organizational budget, expenses, and revenue. </a:t>
            </a:r>
          </a:p>
          <a:p>
            <a:r>
              <a:rPr lang="en-IN" dirty="0"/>
              <a:t>Compare </a:t>
            </a:r>
            <a:r>
              <a:rPr lang="en-IN" b="1" dirty="0"/>
              <a:t>Budget vs Actual Expenses</a:t>
            </a:r>
            <a:r>
              <a:rPr lang="en-IN" dirty="0"/>
              <a:t> to identify spending variances. </a:t>
            </a:r>
          </a:p>
          <a:p>
            <a:r>
              <a:rPr lang="en-IN" dirty="0"/>
              <a:t>Measure </a:t>
            </a:r>
            <a:r>
              <a:rPr lang="en-IN" b="1" dirty="0"/>
              <a:t>product-wise profitability</a:t>
            </a:r>
            <a:r>
              <a:rPr lang="en-IN" dirty="0"/>
              <a:t> using revenue and cost data. </a:t>
            </a:r>
          </a:p>
          <a:p>
            <a:r>
              <a:rPr lang="en-IN" dirty="0"/>
              <a:t>Develop an </a:t>
            </a:r>
            <a:r>
              <a:rPr lang="en-IN" b="1" dirty="0"/>
              <a:t>interactive dashboard</a:t>
            </a:r>
            <a:r>
              <a:rPr lang="en-IN" dirty="0"/>
              <a:t> for quick financial insights. </a:t>
            </a:r>
          </a:p>
          <a:p>
            <a:r>
              <a:rPr lang="en-IN" dirty="0"/>
              <a:t>Perform </a:t>
            </a:r>
            <a:r>
              <a:rPr lang="en-IN" b="1" dirty="0"/>
              <a:t>SQL-based data analysis</a:t>
            </a:r>
            <a:r>
              <a:rPr lang="en-IN" dirty="0"/>
              <a:t> to support decision-making.</a:t>
            </a:r>
          </a:p>
          <a:p>
            <a:pPr marL="0" indent="0">
              <a:buNone/>
              <a:defRPr sz="2200"/>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tx2"/>
                </a:solidFill>
              </a:rPr>
              <a:t>Tools &amp; Technologies Used</a:t>
            </a:r>
            <a:endParaRPr b="1" dirty="0">
              <a:solidFill>
                <a:schemeClr val="tx2"/>
              </a:solidFill>
            </a:endParaRPr>
          </a:p>
        </p:txBody>
      </p:sp>
      <p:sp>
        <p:nvSpPr>
          <p:cNvPr id="3" name="Content Placeholder 2"/>
          <p:cNvSpPr>
            <a:spLocks noGrp="1"/>
          </p:cNvSpPr>
          <p:nvPr>
            <p:ph idx="1"/>
          </p:nvPr>
        </p:nvSpPr>
        <p:spPr/>
        <p:txBody>
          <a:bodyPr>
            <a:normAutofit fontScale="70000" lnSpcReduction="20000"/>
          </a:bodyPr>
          <a:lstStyle/>
          <a:p>
            <a:r>
              <a:rPr lang="en-IN" b="1" dirty="0">
                <a:solidFill>
                  <a:srgbClr val="006600"/>
                </a:solidFill>
              </a:rPr>
              <a:t>Microsoft Excel</a:t>
            </a:r>
          </a:p>
          <a:p>
            <a:r>
              <a:rPr lang="en-IN" dirty="0"/>
              <a:t>Data cleaning and preparation </a:t>
            </a:r>
          </a:p>
          <a:p>
            <a:r>
              <a:rPr lang="en-IN" dirty="0"/>
              <a:t>KPI calculations </a:t>
            </a:r>
          </a:p>
          <a:p>
            <a:r>
              <a:rPr lang="en-IN" dirty="0"/>
              <a:t>Variance and profitability analysis </a:t>
            </a:r>
          </a:p>
          <a:p>
            <a:r>
              <a:rPr lang="en-IN" dirty="0"/>
              <a:t>Dashboard creation using charts </a:t>
            </a:r>
          </a:p>
          <a:p>
            <a:r>
              <a:rPr lang="en-IN" b="1" dirty="0">
                <a:solidFill>
                  <a:srgbClr val="006600"/>
                </a:solidFill>
              </a:rPr>
              <a:t>SQL (phpMyAdmin / MySQL)</a:t>
            </a:r>
          </a:p>
          <a:p>
            <a:r>
              <a:rPr lang="en-IN" dirty="0"/>
              <a:t>Database creation </a:t>
            </a:r>
          </a:p>
          <a:p>
            <a:r>
              <a:rPr lang="en-IN" dirty="0"/>
              <a:t>Table management </a:t>
            </a:r>
          </a:p>
          <a:p>
            <a:r>
              <a:rPr lang="en-IN" dirty="0"/>
              <a:t>Data import from CSV </a:t>
            </a:r>
          </a:p>
          <a:p>
            <a:r>
              <a:rPr lang="en-IN" dirty="0"/>
              <a:t>Data analysis using SQL queries </a:t>
            </a:r>
          </a:p>
          <a:p>
            <a:r>
              <a:rPr lang="en-IN" b="1" dirty="0">
                <a:solidFill>
                  <a:srgbClr val="006600"/>
                </a:solidFill>
              </a:rPr>
              <a:t>XAMPP</a:t>
            </a:r>
          </a:p>
          <a:p>
            <a:r>
              <a:rPr lang="en-IN" dirty="0"/>
              <a:t>Local server environment for MySQL/phpMyAdmin</a:t>
            </a:r>
          </a:p>
          <a:p>
            <a:pPr>
              <a:defRPr sz="2200"/>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2"/>
                </a:solidFill>
              </a:rPr>
              <a:t>Dataset</a:t>
            </a:r>
            <a:r>
              <a:rPr lang="en-IN" b="1" dirty="0">
                <a:solidFill>
                  <a:schemeClr val="tx2"/>
                </a:solidFill>
              </a:rPr>
              <a:t> Description</a:t>
            </a:r>
            <a:endParaRPr b="1" dirty="0">
              <a:solidFill>
                <a:schemeClr val="tx2"/>
              </a:solidFill>
            </a:endParaRPr>
          </a:p>
        </p:txBody>
      </p:sp>
      <p:sp>
        <p:nvSpPr>
          <p:cNvPr id="3" name="Content Placeholder 2"/>
          <p:cNvSpPr>
            <a:spLocks noGrp="1"/>
          </p:cNvSpPr>
          <p:nvPr>
            <p:ph idx="1"/>
          </p:nvPr>
        </p:nvSpPr>
        <p:spPr/>
        <p:txBody>
          <a:bodyPr>
            <a:normAutofit fontScale="55000" lnSpcReduction="20000"/>
          </a:bodyPr>
          <a:lstStyle/>
          <a:p>
            <a:r>
              <a:rPr lang="en-IN" dirty="0"/>
              <a:t>The </a:t>
            </a:r>
            <a:r>
              <a:rPr lang="en-IN" dirty="0" err="1"/>
              <a:t>FinInsight</a:t>
            </a:r>
            <a:r>
              <a:rPr lang="en-IN" dirty="0"/>
              <a:t> project uses </a:t>
            </a:r>
            <a:r>
              <a:rPr lang="en-IN" b="1" dirty="0"/>
              <a:t>three datasets</a:t>
            </a:r>
            <a:r>
              <a:rPr lang="en-IN" dirty="0"/>
              <a:t> to </a:t>
            </a:r>
            <a:r>
              <a:rPr lang="en-IN" dirty="0" err="1"/>
              <a:t>analyze</a:t>
            </a:r>
            <a:r>
              <a:rPr lang="en-IN" dirty="0"/>
              <a:t> financial performance.</a:t>
            </a:r>
          </a:p>
          <a:p>
            <a:r>
              <a:rPr lang="en-IN" sz="3600" b="1" dirty="0">
                <a:solidFill>
                  <a:srgbClr val="006600"/>
                </a:solidFill>
              </a:rPr>
              <a:t>Budget Dataset</a:t>
            </a:r>
          </a:p>
          <a:p>
            <a:r>
              <a:rPr lang="en-IN" dirty="0"/>
              <a:t>Department </a:t>
            </a:r>
          </a:p>
          <a:p>
            <a:r>
              <a:rPr lang="en-IN" dirty="0"/>
              <a:t>Month </a:t>
            </a:r>
          </a:p>
          <a:p>
            <a:r>
              <a:rPr lang="en-IN" dirty="0"/>
              <a:t>Budget Amount </a:t>
            </a:r>
          </a:p>
          <a:p>
            <a:r>
              <a:rPr lang="en-IN" sz="3600" b="1" dirty="0">
                <a:solidFill>
                  <a:srgbClr val="006600"/>
                </a:solidFill>
              </a:rPr>
              <a:t> Expenses Dataset</a:t>
            </a:r>
          </a:p>
          <a:p>
            <a:r>
              <a:rPr lang="en-IN" dirty="0"/>
              <a:t>Date </a:t>
            </a:r>
          </a:p>
          <a:p>
            <a:r>
              <a:rPr lang="en-IN" dirty="0"/>
              <a:t>Department </a:t>
            </a:r>
          </a:p>
          <a:p>
            <a:r>
              <a:rPr lang="en-IN" dirty="0"/>
              <a:t>Category </a:t>
            </a:r>
          </a:p>
          <a:p>
            <a:r>
              <a:rPr lang="en-IN" dirty="0"/>
              <a:t>Amount </a:t>
            </a:r>
          </a:p>
          <a:p>
            <a:r>
              <a:rPr lang="en-IN" sz="3600" b="1" dirty="0">
                <a:solidFill>
                  <a:srgbClr val="006600"/>
                </a:solidFill>
              </a:rPr>
              <a:t> Revenue Dataset</a:t>
            </a:r>
          </a:p>
          <a:p>
            <a:r>
              <a:rPr lang="en-IN" dirty="0"/>
              <a:t>Product </a:t>
            </a:r>
          </a:p>
          <a:p>
            <a:r>
              <a:rPr lang="en-IN" dirty="0"/>
              <a:t>Month </a:t>
            </a:r>
          </a:p>
          <a:p>
            <a:r>
              <a:rPr lang="en-IN" dirty="0"/>
              <a:t>Revenue </a:t>
            </a:r>
          </a:p>
          <a:p>
            <a:r>
              <a:rPr lang="en-IN" dirty="0"/>
              <a:t>Cost</a:t>
            </a:r>
          </a:p>
          <a:p>
            <a:pPr marL="0" indent="0">
              <a:buNone/>
              <a:defRPr sz="2200"/>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E89DF-ECD2-85B2-F424-E5CB156127F3}"/>
              </a:ext>
            </a:extLst>
          </p:cNvPr>
          <p:cNvSpPr>
            <a:spLocks noGrp="1"/>
          </p:cNvSpPr>
          <p:nvPr>
            <p:ph type="title"/>
          </p:nvPr>
        </p:nvSpPr>
        <p:spPr/>
        <p:txBody>
          <a:bodyPr>
            <a:normAutofit/>
          </a:bodyPr>
          <a:lstStyle/>
          <a:p>
            <a:r>
              <a:rPr lang="en-IN" sz="3600" b="1" u="sng" dirty="0">
                <a:solidFill>
                  <a:schemeClr val="tx2"/>
                </a:solidFill>
              </a:rPr>
              <a:t>Purpose of Each Dataset</a:t>
            </a:r>
          </a:p>
        </p:txBody>
      </p:sp>
      <p:graphicFrame>
        <p:nvGraphicFramePr>
          <p:cNvPr id="4" name="Content Placeholder 3">
            <a:extLst>
              <a:ext uri="{FF2B5EF4-FFF2-40B4-BE49-F238E27FC236}">
                <a16:creationId xmlns:a16="http://schemas.microsoft.com/office/drawing/2014/main" id="{63B6F76B-1049-19AF-073A-0275776D68D2}"/>
              </a:ext>
            </a:extLst>
          </p:cNvPr>
          <p:cNvGraphicFramePr>
            <a:graphicFrameLocks noGrp="1"/>
          </p:cNvGraphicFramePr>
          <p:nvPr>
            <p:ph idx="1"/>
            <p:extLst>
              <p:ext uri="{D42A27DB-BD31-4B8C-83A1-F6EECF244321}">
                <p14:modId xmlns:p14="http://schemas.microsoft.com/office/powerpoint/2010/main" val="2367597622"/>
              </p:ext>
            </p:extLst>
          </p:nvPr>
        </p:nvGraphicFramePr>
        <p:xfrm>
          <a:off x="185739" y="1785938"/>
          <a:ext cx="4386261" cy="4454682"/>
        </p:xfrm>
        <a:graphic>
          <a:graphicData uri="http://schemas.openxmlformats.org/drawingml/2006/table">
            <a:tbl>
              <a:tblPr/>
              <a:tblGrid>
                <a:gridCol w="1587408">
                  <a:extLst>
                    <a:ext uri="{9D8B030D-6E8A-4147-A177-3AD203B41FA5}">
                      <a16:colId xmlns:a16="http://schemas.microsoft.com/office/drawing/2014/main" val="889249095"/>
                    </a:ext>
                  </a:extLst>
                </a:gridCol>
                <a:gridCol w="2798853">
                  <a:extLst>
                    <a:ext uri="{9D8B030D-6E8A-4147-A177-3AD203B41FA5}">
                      <a16:colId xmlns:a16="http://schemas.microsoft.com/office/drawing/2014/main" val="2879394449"/>
                    </a:ext>
                  </a:extLst>
                </a:gridCol>
              </a:tblGrid>
              <a:tr h="481587">
                <a:tc>
                  <a:txBody>
                    <a:bodyPr/>
                    <a:lstStyle/>
                    <a:p>
                      <a:pPr>
                        <a:buNone/>
                      </a:pPr>
                      <a:r>
                        <a:rPr lang="en-IN" sz="2000" dirty="0">
                          <a:solidFill>
                            <a:srgbClr val="006600"/>
                          </a:solidFill>
                        </a:rPr>
                        <a:t>Dataset</a:t>
                      </a:r>
                    </a:p>
                  </a:txBody>
                  <a:tcPr anchor="ctr">
                    <a:lnL>
                      <a:noFill/>
                    </a:lnL>
                    <a:lnR>
                      <a:noFill/>
                    </a:lnR>
                    <a:lnT>
                      <a:noFill/>
                    </a:lnT>
                    <a:lnB>
                      <a:noFill/>
                    </a:lnB>
                    <a:noFill/>
                  </a:tcPr>
                </a:tc>
                <a:tc>
                  <a:txBody>
                    <a:bodyPr/>
                    <a:lstStyle/>
                    <a:p>
                      <a:pPr>
                        <a:buNone/>
                      </a:pPr>
                      <a:r>
                        <a:rPr lang="en-IN" dirty="0">
                          <a:solidFill>
                            <a:srgbClr val="006600"/>
                          </a:solidFill>
                        </a:rPr>
                        <a:t>Purpose                                                    </a:t>
                      </a:r>
                    </a:p>
                  </a:txBody>
                  <a:tcPr anchor="ctr">
                    <a:lnL>
                      <a:noFill/>
                    </a:lnL>
                    <a:lnR>
                      <a:noFill/>
                    </a:lnR>
                    <a:lnT>
                      <a:noFill/>
                    </a:lnT>
                    <a:lnB>
                      <a:noFill/>
                    </a:lnB>
                    <a:noFill/>
                  </a:tcPr>
                </a:tc>
                <a:extLst>
                  <a:ext uri="{0D108BD9-81ED-4DB2-BD59-A6C34878D82A}">
                    <a16:rowId xmlns:a16="http://schemas.microsoft.com/office/drawing/2014/main" val="431974897"/>
                  </a:ext>
                </a:extLst>
              </a:tr>
              <a:tr h="1565159">
                <a:tc>
                  <a:txBody>
                    <a:bodyPr/>
                    <a:lstStyle/>
                    <a:p>
                      <a:pPr>
                        <a:buNone/>
                      </a:pPr>
                      <a:r>
                        <a:rPr lang="en-IN" b="1"/>
                        <a:t>Budget</a:t>
                      </a:r>
                      <a:endParaRPr lang="en-IN"/>
                    </a:p>
                  </a:txBody>
                  <a:tcPr anchor="ctr">
                    <a:lnL>
                      <a:noFill/>
                    </a:lnL>
                    <a:lnR>
                      <a:noFill/>
                    </a:lnR>
                    <a:lnT>
                      <a:noFill/>
                    </a:lnT>
                    <a:lnB>
                      <a:noFill/>
                    </a:lnB>
                    <a:noFill/>
                  </a:tcPr>
                </a:tc>
                <a:tc>
                  <a:txBody>
                    <a:bodyPr/>
                    <a:lstStyle/>
                    <a:p>
                      <a:pPr>
                        <a:buNone/>
                      </a:pPr>
                      <a:r>
                        <a:rPr lang="en-IN" dirty="0"/>
                        <a:t>Stores the planned budget for each department.                              </a:t>
                      </a:r>
                    </a:p>
                  </a:txBody>
                  <a:tcPr anchor="ctr">
                    <a:lnL>
                      <a:noFill/>
                    </a:lnL>
                    <a:lnR>
                      <a:noFill/>
                    </a:lnR>
                    <a:lnT>
                      <a:noFill/>
                    </a:lnT>
                    <a:lnB>
                      <a:noFill/>
                    </a:lnB>
                    <a:noFill/>
                  </a:tcPr>
                </a:tc>
                <a:extLst>
                  <a:ext uri="{0D108BD9-81ED-4DB2-BD59-A6C34878D82A}">
                    <a16:rowId xmlns:a16="http://schemas.microsoft.com/office/drawing/2014/main" val="3023278070"/>
                  </a:ext>
                </a:extLst>
              </a:tr>
              <a:tr h="1203968">
                <a:tc>
                  <a:txBody>
                    <a:bodyPr/>
                    <a:lstStyle/>
                    <a:p>
                      <a:pPr>
                        <a:buNone/>
                      </a:pPr>
                      <a:r>
                        <a:rPr lang="en-IN" b="1"/>
                        <a:t>Expenses</a:t>
                      </a:r>
                      <a:endParaRPr lang="en-IN"/>
                    </a:p>
                  </a:txBody>
                  <a:tcPr anchor="ctr">
                    <a:lnL>
                      <a:noFill/>
                    </a:lnL>
                    <a:lnR>
                      <a:noFill/>
                    </a:lnR>
                    <a:lnT>
                      <a:noFill/>
                    </a:lnT>
                    <a:lnB>
                      <a:noFill/>
                    </a:lnB>
                    <a:noFill/>
                  </a:tcPr>
                </a:tc>
                <a:tc>
                  <a:txBody>
                    <a:bodyPr/>
                    <a:lstStyle/>
                    <a:p>
                      <a:pPr>
                        <a:buNone/>
                      </a:pPr>
                      <a:r>
                        <a:rPr lang="en-IN" dirty="0"/>
                        <a:t>Records actual departmental expenses.</a:t>
                      </a:r>
                    </a:p>
                  </a:txBody>
                  <a:tcPr anchor="ctr">
                    <a:lnL>
                      <a:noFill/>
                    </a:lnL>
                    <a:lnR>
                      <a:noFill/>
                    </a:lnR>
                    <a:lnT>
                      <a:noFill/>
                    </a:lnT>
                    <a:lnB>
                      <a:noFill/>
                    </a:lnB>
                    <a:noFill/>
                  </a:tcPr>
                </a:tc>
                <a:extLst>
                  <a:ext uri="{0D108BD9-81ED-4DB2-BD59-A6C34878D82A}">
                    <a16:rowId xmlns:a16="http://schemas.microsoft.com/office/drawing/2014/main" val="1689338194"/>
                  </a:ext>
                </a:extLst>
              </a:tr>
              <a:tr h="1203968">
                <a:tc>
                  <a:txBody>
                    <a:bodyPr/>
                    <a:lstStyle/>
                    <a:p>
                      <a:pPr>
                        <a:buNone/>
                      </a:pPr>
                      <a:r>
                        <a:rPr lang="en-IN" b="1"/>
                        <a:t>Revenue</a:t>
                      </a:r>
                      <a:endParaRPr lang="en-IN"/>
                    </a:p>
                  </a:txBody>
                  <a:tcPr anchor="ctr">
                    <a:lnL>
                      <a:noFill/>
                    </a:lnL>
                    <a:lnR>
                      <a:noFill/>
                    </a:lnR>
                    <a:lnT>
                      <a:noFill/>
                    </a:lnT>
                    <a:lnB>
                      <a:noFill/>
                    </a:lnB>
                    <a:noFill/>
                  </a:tcPr>
                </a:tc>
                <a:tc>
                  <a:txBody>
                    <a:bodyPr/>
                    <a:lstStyle/>
                    <a:p>
                      <a:pPr>
                        <a:buNone/>
                      </a:pPr>
                      <a:r>
                        <a:rPr lang="en-IN" dirty="0"/>
                        <a:t>Tracks product revenue and cost to calculate profit.</a:t>
                      </a:r>
                    </a:p>
                  </a:txBody>
                  <a:tcPr anchor="ctr">
                    <a:lnL>
                      <a:noFill/>
                    </a:lnL>
                    <a:lnR>
                      <a:noFill/>
                    </a:lnR>
                    <a:lnT>
                      <a:noFill/>
                    </a:lnT>
                    <a:lnB>
                      <a:noFill/>
                    </a:lnB>
                    <a:noFill/>
                  </a:tcPr>
                </a:tc>
                <a:extLst>
                  <a:ext uri="{0D108BD9-81ED-4DB2-BD59-A6C34878D82A}">
                    <a16:rowId xmlns:a16="http://schemas.microsoft.com/office/drawing/2014/main" val="894854493"/>
                  </a:ext>
                </a:extLst>
              </a:tr>
            </a:tbl>
          </a:graphicData>
        </a:graphic>
      </p:graphicFrame>
      <p:pic>
        <p:nvPicPr>
          <p:cNvPr id="6" name="Picture 5">
            <a:extLst>
              <a:ext uri="{FF2B5EF4-FFF2-40B4-BE49-F238E27FC236}">
                <a16:creationId xmlns:a16="http://schemas.microsoft.com/office/drawing/2014/main" id="{A72C817C-92F2-F118-7B35-6F5E3D8AE8F6}"/>
              </a:ext>
            </a:extLst>
          </p:cNvPr>
          <p:cNvPicPr>
            <a:picLocks noChangeAspect="1"/>
          </p:cNvPicPr>
          <p:nvPr/>
        </p:nvPicPr>
        <p:blipFill>
          <a:blip r:embed="rId2"/>
          <a:stretch>
            <a:fillRect/>
          </a:stretch>
        </p:blipFill>
        <p:spPr>
          <a:xfrm>
            <a:off x="5046994" y="2081076"/>
            <a:ext cx="3639806" cy="3519624"/>
          </a:xfrm>
          <a:prstGeom prst="rect">
            <a:avLst/>
          </a:prstGeom>
        </p:spPr>
      </p:pic>
    </p:spTree>
    <p:extLst>
      <p:ext uri="{BB962C8B-B14F-4D97-AF65-F5344CB8AC3E}">
        <p14:creationId xmlns:p14="http://schemas.microsoft.com/office/powerpoint/2010/main" val="143268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solidFill>
                  <a:schemeClr val="tx2"/>
                </a:solidFill>
              </a:rPr>
              <a:t>Data Preparation &amp; Cleaning</a:t>
            </a:r>
            <a:endParaRPr b="1" dirty="0">
              <a:solidFill>
                <a:schemeClr val="tx2"/>
              </a:solidFill>
            </a:endParaRPr>
          </a:p>
        </p:txBody>
      </p:sp>
      <p:sp>
        <p:nvSpPr>
          <p:cNvPr id="3" name="Content Placeholder 2"/>
          <p:cNvSpPr>
            <a:spLocks noGrp="1"/>
          </p:cNvSpPr>
          <p:nvPr>
            <p:ph idx="1"/>
          </p:nvPr>
        </p:nvSpPr>
        <p:spPr>
          <a:xfrm>
            <a:off x="685800" y="2043113"/>
            <a:ext cx="6929438" cy="3900488"/>
          </a:xfrm>
        </p:spPr>
        <p:txBody>
          <a:bodyPr>
            <a:normAutofit fontScale="70000" lnSpcReduction="20000"/>
          </a:bodyPr>
          <a:lstStyle/>
          <a:p>
            <a:r>
              <a:rPr lang="en-IN" b="1" dirty="0"/>
              <a:t>Data Preparation</a:t>
            </a:r>
          </a:p>
          <a:p>
            <a:r>
              <a:rPr lang="en-IN" dirty="0"/>
              <a:t>Imported </a:t>
            </a:r>
            <a:r>
              <a:rPr lang="en-IN" b="1" dirty="0"/>
              <a:t>Budget, Expenses, and Revenue</a:t>
            </a:r>
            <a:r>
              <a:rPr lang="en-IN" dirty="0"/>
              <a:t> datasets into Microsoft Excel. </a:t>
            </a:r>
          </a:p>
          <a:p>
            <a:r>
              <a:rPr lang="en-IN" dirty="0"/>
              <a:t>Organized the data into structured tables for analysis. </a:t>
            </a:r>
          </a:p>
          <a:p>
            <a:r>
              <a:rPr lang="en-IN" dirty="0"/>
              <a:t>Ensured consistent data formatting across all datasets. </a:t>
            </a:r>
          </a:p>
          <a:p>
            <a:r>
              <a:rPr lang="en-IN" b="1" dirty="0"/>
              <a:t>Data Cleaning</a:t>
            </a:r>
          </a:p>
          <a:p>
            <a:r>
              <a:rPr lang="en-IN" dirty="0"/>
              <a:t>Checked for missing or duplicate records. </a:t>
            </a:r>
          </a:p>
          <a:p>
            <a:r>
              <a:rPr lang="en-IN" dirty="0"/>
              <a:t>Standardized numeric, currency, and date formats. </a:t>
            </a:r>
          </a:p>
          <a:p>
            <a:r>
              <a:rPr lang="en-IN" dirty="0"/>
              <a:t>Verified data accuracy before performing analysis.</a:t>
            </a:r>
          </a:p>
          <a:p>
            <a:pPr marL="0" indent="0">
              <a:buNone/>
              <a:defRPr sz="2200"/>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45756-14AA-77EF-D320-6A381B9BA2AE}"/>
              </a:ext>
            </a:extLst>
          </p:cNvPr>
          <p:cNvSpPr>
            <a:spLocks noGrp="1"/>
          </p:cNvSpPr>
          <p:nvPr>
            <p:ph type="title"/>
          </p:nvPr>
        </p:nvSpPr>
        <p:spPr>
          <a:xfrm>
            <a:off x="457200" y="128588"/>
            <a:ext cx="7658100" cy="785812"/>
          </a:xfrm>
        </p:spPr>
        <p:txBody>
          <a:bodyPr>
            <a:normAutofit/>
          </a:bodyPr>
          <a:lstStyle/>
          <a:p>
            <a:r>
              <a:rPr lang="en-IN" sz="3200" b="1" dirty="0">
                <a:solidFill>
                  <a:schemeClr val="tx2"/>
                </a:solidFill>
              </a:rPr>
              <a:t>Key Performance Indicators (KPIs)</a:t>
            </a:r>
          </a:p>
        </p:txBody>
      </p:sp>
      <p:sp>
        <p:nvSpPr>
          <p:cNvPr id="3" name="Content Placeholder 2">
            <a:extLst>
              <a:ext uri="{FF2B5EF4-FFF2-40B4-BE49-F238E27FC236}">
                <a16:creationId xmlns:a16="http://schemas.microsoft.com/office/drawing/2014/main" id="{FD459431-F20B-BB85-2DAB-3F7AAFED91F2}"/>
              </a:ext>
            </a:extLst>
          </p:cNvPr>
          <p:cNvSpPr>
            <a:spLocks noGrp="1"/>
          </p:cNvSpPr>
          <p:nvPr>
            <p:ph idx="1"/>
          </p:nvPr>
        </p:nvSpPr>
        <p:spPr>
          <a:xfrm>
            <a:off x="457200" y="1271286"/>
            <a:ext cx="4314825" cy="4854877"/>
          </a:xfrm>
        </p:spPr>
        <p:txBody>
          <a:bodyPr>
            <a:normAutofit fontScale="77500" lnSpcReduction="20000"/>
          </a:bodyPr>
          <a:lstStyle/>
          <a:p>
            <a:r>
              <a:rPr lang="en-IN" b="1" dirty="0"/>
              <a:t>KPIs Created</a:t>
            </a:r>
          </a:p>
          <a:p>
            <a:r>
              <a:rPr lang="en-IN" dirty="0"/>
              <a:t> Total Budget </a:t>
            </a:r>
          </a:p>
          <a:p>
            <a:r>
              <a:rPr lang="en-IN" dirty="0"/>
              <a:t> Total Expenses </a:t>
            </a:r>
          </a:p>
          <a:p>
            <a:r>
              <a:rPr lang="en-IN" dirty="0"/>
              <a:t> Total Revenue </a:t>
            </a:r>
          </a:p>
          <a:p>
            <a:r>
              <a:rPr lang="en-IN" dirty="0"/>
              <a:t> Total Profit </a:t>
            </a:r>
          </a:p>
          <a:p>
            <a:r>
              <a:rPr lang="en-IN" b="1" dirty="0"/>
              <a:t>Purpose</a:t>
            </a:r>
          </a:p>
          <a:p>
            <a:r>
              <a:rPr lang="en-IN" dirty="0"/>
              <a:t>Monitor the organization's financial performance. </a:t>
            </a:r>
          </a:p>
          <a:p>
            <a:r>
              <a:rPr lang="en-IN" dirty="0"/>
              <a:t>Compare planned budget with actual spending. </a:t>
            </a:r>
          </a:p>
          <a:p>
            <a:r>
              <a:rPr lang="en-IN" dirty="0"/>
              <a:t>Support quick and informed business decisions. </a:t>
            </a:r>
          </a:p>
          <a:p>
            <a:endParaRPr lang="en-IN" dirty="0"/>
          </a:p>
        </p:txBody>
      </p:sp>
      <p:pic>
        <p:nvPicPr>
          <p:cNvPr id="8" name="Picture 7">
            <a:extLst>
              <a:ext uri="{FF2B5EF4-FFF2-40B4-BE49-F238E27FC236}">
                <a16:creationId xmlns:a16="http://schemas.microsoft.com/office/drawing/2014/main" id="{FD221903-696D-3CE7-4DE5-04D2D6964F22}"/>
              </a:ext>
            </a:extLst>
          </p:cNvPr>
          <p:cNvPicPr>
            <a:picLocks noChangeAspect="1"/>
          </p:cNvPicPr>
          <p:nvPr/>
        </p:nvPicPr>
        <p:blipFill>
          <a:blip r:embed="rId2"/>
          <a:stretch>
            <a:fillRect/>
          </a:stretch>
        </p:blipFill>
        <p:spPr>
          <a:xfrm>
            <a:off x="5100638" y="1271286"/>
            <a:ext cx="3286125" cy="4315427"/>
          </a:xfrm>
          <a:prstGeom prst="rect">
            <a:avLst/>
          </a:prstGeom>
        </p:spPr>
      </p:pic>
    </p:spTree>
    <p:extLst>
      <p:ext uri="{BB962C8B-B14F-4D97-AF65-F5344CB8AC3E}">
        <p14:creationId xmlns:p14="http://schemas.microsoft.com/office/powerpoint/2010/main" val="1207691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2"/>
                </a:solidFill>
              </a:rPr>
              <a:t>Variance &amp; Alerts</a:t>
            </a:r>
          </a:p>
        </p:txBody>
      </p:sp>
      <p:sp>
        <p:nvSpPr>
          <p:cNvPr id="3" name="Content Placeholder 2"/>
          <p:cNvSpPr>
            <a:spLocks noGrp="1"/>
          </p:cNvSpPr>
          <p:nvPr>
            <p:ph idx="1"/>
          </p:nvPr>
        </p:nvSpPr>
        <p:spPr>
          <a:xfrm>
            <a:off x="457200" y="1600200"/>
            <a:ext cx="3886200" cy="4525963"/>
          </a:xfrm>
        </p:spPr>
        <p:txBody>
          <a:bodyPr>
            <a:normAutofit fontScale="62500" lnSpcReduction="20000"/>
          </a:bodyPr>
          <a:lstStyle/>
          <a:p>
            <a:r>
              <a:rPr lang="en-IN" b="1" dirty="0"/>
              <a:t>Variance Analysis &amp; Alerts</a:t>
            </a:r>
          </a:p>
          <a:p>
            <a:r>
              <a:rPr lang="en-IN" b="1" dirty="0"/>
              <a:t>Variance Analysis</a:t>
            </a:r>
          </a:p>
          <a:p>
            <a:r>
              <a:rPr lang="en-IN" dirty="0"/>
              <a:t>Compared </a:t>
            </a:r>
            <a:r>
              <a:rPr lang="en-IN" b="1" dirty="0"/>
              <a:t>Budget</a:t>
            </a:r>
            <a:r>
              <a:rPr lang="en-IN" dirty="0"/>
              <a:t> with </a:t>
            </a:r>
            <a:r>
              <a:rPr lang="en-IN" b="1" dirty="0"/>
              <a:t>Actual Expenses</a:t>
            </a:r>
            <a:r>
              <a:rPr lang="en-IN" dirty="0"/>
              <a:t>. </a:t>
            </a:r>
          </a:p>
          <a:p>
            <a:r>
              <a:rPr lang="en-IN" dirty="0"/>
              <a:t>Calculated </a:t>
            </a:r>
            <a:r>
              <a:rPr lang="en-IN" b="1" dirty="0"/>
              <a:t>Variance</a:t>
            </a:r>
            <a:r>
              <a:rPr lang="en-IN" dirty="0"/>
              <a:t> and </a:t>
            </a:r>
            <a:r>
              <a:rPr lang="en-IN" b="1" dirty="0"/>
              <a:t>Variance %</a:t>
            </a:r>
            <a:r>
              <a:rPr lang="en-IN" dirty="0"/>
              <a:t>. </a:t>
            </a:r>
          </a:p>
          <a:p>
            <a:r>
              <a:rPr lang="en-IN" dirty="0"/>
              <a:t>Identified departments with budget deviations. </a:t>
            </a:r>
          </a:p>
          <a:p>
            <a:r>
              <a:rPr lang="en-IN" b="1" dirty="0"/>
              <a:t>Alerts</a:t>
            </a:r>
          </a:p>
          <a:p>
            <a:r>
              <a:rPr lang="en-IN" b="1" dirty="0"/>
              <a:t>Within Budget</a:t>
            </a:r>
            <a:r>
              <a:rPr lang="en-IN" dirty="0"/>
              <a:t> – Expenses are within the allocated budget. </a:t>
            </a:r>
          </a:p>
          <a:p>
            <a:r>
              <a:rPr lang="en-IN" b="1" dirty="0"/>
              <a:t>Over Budget</a:t>
            </a:r>
            <a:r>
              <a:rPr lang="en-IN" dirty="0"/>
              <a:t> – Expenses exceed the allocated budget. </a:t>
            </a:r>
          </a:p>
          <a:p>
            <a:r>
              <a:rPr lang="en-IN" dirty="0"/>
              <a:t>Applied </a:t>
            </a:r>
            <a:r>
              <a:rPr lang="en-IN" b="1" dirty="0"/>
              <a:t>Conditional Formatting</a:t>
            </a:r>
            <a:r>
              <a:rPr lang="en-IN" dirty="0"/>
              <a:t> to highlight alerts.</a:t>
            </a:r>
          </a:p>
          <a:p>
            <a:pPr marL="0" indent="0">
              <a:buNone/>
              <a:defRPr sz="2200"/>
            </a:pPr>
            <a:endParaRPr dirty="0"/>
          </a:p>
        </p:txBody>
      </p:sp>
      <p:pic>
        <p:nvPicPr>
          <p:cNvPr id="8" name="Picture 7">
            <a:extLst>
              <a:ext uri="{FF2B5EF4-FFF2-40B4-BE49-F238E27FC236}">
                <a16:creationId xmlns:a16="http://schemas.microsoft.com/office/drawing/2014/main" id="{BBF87407-C265-04A8-B456-3B39F46AA3BD}"/>
              </a:ext>
            </a:extLst>
          </p:cNvPr>
          <p:cNvPicPr>
            <a:picLocks noChangeAspect="1"/>
          </p:cNvPicPr>
          <p:nvPr/>
        </p:nvPicPr>
        <p:blipFill>
          <a:blip r:embed="rId2"/>
          <a:stretch>
            <a:fillRect/>
          </a:stretch>
        </p:blipFill>
        <p:spPr>
          <a:xfrm>
            <a:off x="4343401" y="1600199"/>
            <a:ext cx="4500562" cy="387191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tx2"/>
                </a:solidFill>
              </a:rPr>
              <a:t>Profitability Analysis</a:t>
            </a:r>
          </a:p>
        </p:txBody>
      </p:sp>
      <p:sp>
        <p:nvSpPr>
          <p:cNvPr id="3" name="Content Placeholder 2"/>
          <p:cNvSpPr>
            <a:spLocks noGrp="1"/>
          </p:cNvSpPr>
          <p:nvPr>
            <p:ph idx="1"/>
          </p:nvPr>
        </p:nvSpPr>
        <p:spPr>
          <a:xfrm>
            <a:off x="457201" y="1614488"/>
            <a:ext cx="4114800" cy="4983162"/>
          </a:xfrm>
        </p:spPr>
        <p:txBody>
          <a:bodyPr>
            <a:normAutofit fontScale="70000" lnSpcReduction="20000"/>
          </a:bodyPr>
          <a:lstStyle/>
          <a:p>
            <a:r>
              <a:rPr lang="en-IN" b="1" dirty="0"/>
              <a:t>Key Metrics</a:t>
            </a:r>
          </a:p>
          <a:p>
            <a:r>
              <a:rPr lang="en-IN" dirty="0"/>
              <a:t>Revenue </a:t>
            </a:r>
          </a:p>
          <a:p>
            <a:r>
              <a:rPr lang="en-IN" dirty="0"/>
              <a:t>Cost </a:t>
            </a:r>
          </a:p>
          <a:p>
            <a:r>
              <a:rPr lang="en-IN" dirty="0"/>
              <a:t>Profit </a:t>
            </a:r>
          </a:p>
          <a:p>
            <a:r>
              <a:rPr lang="en-IN" dirty="0"/>
              <a:t>Profit Margin </a:t>
            </a:r>
          </a:p>
          <a:p>
            <a:r>
              <a:rPr lang="en-IN" b="1" dirty="0"/>
              <a:t>Analysis Performed</a:t>
            </a:r>
          </a:p>
          <a:p>
            <a:r>
              <a:rPr lang="en-IN" dirty="0"/>
              <a:t>Compared </a:t>
            </a:r>
            <a:r>
              <a:rPr lang="en-IN" b="1" dirty="0"/>
              <a:t>Revenue</a:t>
            </a:r>
            <a:r>
              <a:rPr lang="en-IN" dirty="0"/>
              <a:t> and </a:t>
            </a:r>
            <a:r>
              <a:rPr lang="en-IN" b="1" dirty="0"/>
              <a:t>Cost</a:t>
            </a:r>
            <a:r>
              <a:rPr lang="en-IN" dirty="0"/>
              <a:t> for each product. </a:t>
            </a:r>
          </a:p>
          <a:p>
            <a:r>
              <a:rPr lang="en-IN" dirty="0"/>
              <a:t>Calculated </a:t>
            </a:r>
            <a:r>
              <a:rPr lang="en-IN" b="1" dirty="0"/>
              <a:t>Profit = Revenue − Cost</a:t>
            </a:r>
            <a:r>
              <a:rPr lang="en-IN" dirty="0"/>
              <a:t>. </a:t>
            </a:r>
          </a:p>
          <a:p>
            <a:r>
              <a:rPr lang="en-IN" dirty="0"/>
              <a:t>Identified products with the highest profitability. </a:t>
            </a:r>
          </a:p>
          <a:p>
            <a:r>
              <a:rPr lang="en-IN" dirty="0"/>
              <a:t>Evaluated overall financial performance.</a:t>
            </a:r>
          </a:p>
          <a:p>
            <a:pPr marL="0" indent="0">
              <a:buNone/>
              <a:defRPr sz="2200"/>
            </a:pPr>
            <a:endParaRPr dirty="0"/>
          </a:p>
        </p:txBody>
      </p:sp>
      <p:pic>
        <p:nvPicPr>
          <p:cNvPr id="5" name="Picture 4">
            <a:extLst>
              <a:ext uri="{FF2B5EF4-FFF2-40B4-BE49-F238E27FC236}">
                <a16:creationId xmlns:a16="http://schemas.microsoft.com/office/drawing/2014/main" id="{7CBC60F0-8165-42A6-2684-35A456E2A65F}"/>
              </a:ext>
            </a:extLst>
          </p:cNvPr>
          <p:cNvPicPr>
            <a:picLocks noChangeAspect="1"/>
          </p:cNvPicPr>
          <p:nvPr/>
        </p:nvPicPr>
        <p:blipFill>
          <a:blip r:embed="rId2"/>
          <a:stretch>
            <a:fillRect/>
          </a:stretch>
        </p:blipFill>
        <p:spPr>
          <a:xfrm>
            <a:off x="4976571" y="2290645"/>
            <a:ext cx="3448531" cy="167663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2"/>
                </a:solidFill>
              </a:rPr>
              <a:t>Executive Dashboard</a:t>
            </a:r>
          </a:p>
        </p:txBody>
      </p:sp>
      <p:sp>
        <p:nvSpPr>
          <p:cNvPr id="3" name="Content Placeholder 2"/>
          <p:cNvSpPr>
            <a:spLocks noGrp="1"/>
          </p:cNvSpPr>
          <p:nvPr>
            <p:ph idx="1"/>
          </p:nvPr>
        </p:nvSpPr>
        <p:spPr/>
        <p:txBody>
          <a:bodyPr/>
          <a:lstStyle/>
          <a:p>
            <a:pPr marL="0" indent="0">
              <a:buNone/>
            </a:pPr>
            <a:r>
              <a:rPr lang="en-IN" b="1" dirty="0"/>
              <a:t>Dashboard Highlights</a:t>
            </a:r>
          </a:p>
          <a:p>
            <a:r>
              <a:rPr lang="en-IN" dirty="0"/>
              <a:t>Displays key financial KPIs. </a:t>
            </a:r>
          </a:p>
          <a:p>
            <a:r>
              <a:rPr lang="en-IN" dirty="0"/>
              <a:t>Compares </a:t>
            </a:r>
            <a:r>
              <a:rPr lang="en-IN" b="1" dirty="0"/>
              <a:t>Budget vs Expenses</a:t>
            </a:r>
            <a:r>
              <a:rPr lang="en-IN" dirty="0"/>
              <a:t>. </a:t>
            </a:r>
          </a:p>
          <a:p>
            <a:r>
              <a:rPr lang="en-IN" dirty="0"/>
              <a:t>Shows </a:t>
            </a:r>
            <a:r>
              <a:rPr lang="en-IN" b="1" dirty="0"/>
              <a:t>Revenue</a:t>
            </a:r>
            <a:r>
              <a:rPr lang="en-IN" dirty="0"/>
              <a:t> and </a:t>
            </a:r>
            <a:r>
              <a:rPr lang="en-IN" b="1" dirty="0"/>
              <a:t>Profitability</a:t>
            </a:r>
            <a:r>
              <a:rPr lang="en-IN" dirty="0"/>
              <a:t> trends. </a:t>
            </a:r>
          </a:p>
          <a:p>
            <a:r>
              <a:rPr lang="en-IN" dirty="0"/>
              <a:t>Provides department-wise financial insights. </a:t>
            </a:r>
          </a:p>
          <a:p>
            <a:r>
              <a:rPr lang="en-IN" dirty="0"/>
              <a:t>Supports quick and informed decision-making.</a:t>
            </a:r>
          </a:p>
          <a:p>
            <a:pPr marL="0" indent="0">
              <a:buNone/>
              <a:defRPr sz="2200"/>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154F23-3C6F-0BEB-47E9-195B317D95D0}"/>
              </a:ext>
            </a:extLst>
          </p:cNvPr>
          <p:cNvPicPr>
            <a:picLocks noChangeAspect="1"/>
          </p:cNvPicPr>
          <p:nvPr/>
        </p:nvPicPr>
        <p:blipFill>
          <a:blip r:embed="rId2"/>
          <a:stretch>
            <a:fillRect/>
          </a:stretch>
        </p:blipFill>
        <p:spPr>
          <a:xfrm>
            <a:off x="200024" y="585788"/>
            <a:ext cx="8701089" cy="5143500"/>
          </a:xfrm>
          <a:prstGeom prst="rect">
            <a:avLst/>
          </a:prstGeom>
        </p:spPr>
      </p:pic>
    </p:spTree>
    <p:extLst>
      <p:ext uri="{BB962C8B-B14F-4D97-AF65-F5344CB8AC3E}">
        <p14:creationId xmlns:p14="http://schemas.microsoft.com/office/powerpoint/2010/main" val="2747948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tx2"/>
                </a:solidFill>
              </a:rPr>
              <a:t>SQL Database &amp; Analysis</a:t>
            </a:r>
            <a:endParaRPr b="1" dirty="0">
              <a:solidFill>
                <a:schemeClr val="tx2"/>
              </a:solidFill>
            </a:endParaRPr>
          </a:p>
        </p:txBody>
      </p:sp>
      <p:sp>
        <p:nvSpPr>
          <p:cNvPr id="3" name="Content Placeholder 2"/>
          <p:cNvSpPr>
            <a:spLocks noGrp="1"/>
          </p:cNvSpPr>
          <p:nvPr>
            <p:ph idx="1"/>
          </p:nvPr>
        </p:nvSpPr>
        <p:spPr>
          <a:xfrm>
            <a:off x="457199" y="1600200"/>
            <a:ext cx="7929563" cy="4525963"/>
          </a:xfrm>
        </p:spPr>
        <p:txBody>
          <a:bodyPr>
            <a:normAutofit fontScale="85000" lnSpcReduction="10000"/>
          </a:bodyPr>
          <a:lstStyle/>
          <a:p>
            <a:pPr marL="0" indent="0">
              <a:buNone/>
            </a:pPr>
            <a:r>
              <a:rPr lang="en-IN" b="1" dirty="0"/>
              <a:t>Database Implementation</a:t>
            </a:r>
          </a:p>
          <a:p>
            <a:r>
              <a:rPr lang="en-IN" dirty="0"/>
              <a:t>Created the </a:t>
            </a:r>
            <a:r>
              <a:rPr lang="en-IN" b="1" dirty="0" err="1"/>
              <a:t>FinInsight</a:t>
            </a:r>
            <a:r>
              <a:rPr lang="en-IN" dirty="0"/>
              <a:t> database using MySQL/phpMyAdmin. </a:t>
            </a:r>
          </a:p>
          <a:p>
            <a:r>
              <a:rPr lang="en-IN" dirty="0"/>
              <a:t>Imported </a:t>
            </a:r>
            <a:r>
              <a:rPr lang="en-IN" b="1" dirty="0"/>
              <a:t>Budget</a:t>
            </a:r>
            <a:r>
              <a:rPr lang="en-IN" dirty="0"/>
              <a:t>, </a:t>
            </a:r>
            <a:r>
              <a:rPr lang="en-IN" b="1" dirty="0"/>
              <a:t>Expenses</a:t>
            </a:r>
            <a:r>
              <a:rPr lang="en-IN" dirty="0"/>
              <a:t>, and </a:t>
            </a:r>
            <a:r>
              <a:rPr lang="en-IN" b="1" dirty="0"/>
              <a:t>Revenue</a:t>
            </a:r>
            <a:r>
              <a:rPr lang="en-IN" dirty="0"/>
              <a:t> datasets. </a:t>
            </a:r>
          </a:p>
          <a:p>
            <a:r>
              <a:rPr lang="en-IN" dirty="0"/>
              <a:t>Created relational tables for data management. </a:t>
            </a:r>
          </a:p>
          <a:p>
            <a:pPr marL="0" indent="0">
              <a:buNone/>
            </a:pPr>
            <a:r>
              <a:rPr lang="en-IN" b="1" dirty="0"/>
              <a:t>SQL Analysis</a:t>
            </a:r>
          </a:p>
          <a:p>
            <a:r>
              <a:rPr lang="en-IN" dirty="0"/>
              <a:t>Retrieved financial records using SQL queries. </a:t>
            </a:r>
          </a:p>
          <a:p>
            <a:r>
              <a:rPr lang="en-IN" dirty="0"/>
              <a:t>Performed aggregation using </a:t>
            </a:r>
            <a:r>
              <a:rPr lang="en-IN" b="1" dirty="0"/>
              <a:t>SUM()</a:t>
            </a:r>
            <a:r>
              <a:rPr lang="en-IN" dirty="0"/>
              <a:t> and </a:t>
            </a:r>
            <a:r>
              <a:rPr lang="en-IN" b="1" dirty="0"/>
              <a:t>GROUP BY</a:t>
            </a:r>
            <a:r>
              <a:rPr lang="en-IN" dirty="0"/>
              <a:t>. </a:t>
            </a:r>
          </a:p>
          <a:p>
            <a:r>
              <a:rPr lang="en-IN" dirty="0" err="1"/>
              <a:t>Analyzed</a:t>
            </a:r>
            <a:r>
              <a:rPr lang="en-IN" dirty="0"/>
              <a:t> budgets, expenses, revenue, and profit.</a:t>
            </a:r>
          </a:p>
          <a:p>
            <a:pPr>
              <a:defRPr sz="2200"/>
            </a:pP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AD2E8D-5C2D-90C2-695F-FCB220B651B0}"/>
              </a:ext>
            </a:extLst>
          </p:cNvPr>
          <p:cNvPicPr>
            <a:picLocks noChangeAspect="1"/>
          </p:cNvPicPr>
          <p:nvPr/>
        </p:nvPicPr>
        <p:blipFill>
          <a:blip r:embed="rId2"/>
          <a:stretch>
            <a:fillRect/>
          </a:stretch>
        </p:blipFill>
        <p:spPr>
          <a:xfrm>
            <a:off x="0" y="1289720"/>
            <a:ext cx="9144000" cy="4278559"/>
          </a:xfrm>
          <a:prstGeom prst="rect">
            <a:avLst/>
          </a:prstGeom>
        </p:spPr>
      </p:pic>
    </p:spTree>
    <p:extLst>
      <p:ext uri="{BB962C8B-B14F-4D97-AF65-F5344CB8AC3E}">
        <p14:creationId xmlns:p14="http://schemas.microsoft.com/office/powerpoint/2010/main" val="453829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2"/>
                </a:solidFill>
              </a:rPr>
              <a:t>Key Findings</a:t>
            </a:r>
          </a:p>
        </p:txBody>
      </p:sp>
      <p:sp>
        <p:nvSpPr>
          <p:cNvPr id="3" name="Content Placeholder 2"/>
          <p:cNvSpPr>
            <a:spLocks noGrp="1"/>
          </p:cNvSpPr>
          <p:nvPr>
            <p:ph idx="1"/>
          </p:nvPr>
        </p:nvSpPr>
        <p:spPr/>
        <p:txBody>
          <a:bodyPr>
            <a:normAutofit fontScale="92500" lnSpcReduction="20000"/>
          </a:bodyPr>
          <a:lstStyle/>
          <a:p>
            <a:r>
              <a:rPr lang="en-IN" dirty="0"/>
              <a:t>Budget and actual expenses were successfully compared across departments. </a:t>
            </a:r>
          </a:p>
          <a:p>
            <a:r>
              <a:rPr lang="en-IN" dirty="0"/>
              <a:t>Variance analysis helped identify </a:t>
            </a:r>
            <a:r>
              <a:rPr lang="en-IN" b="1" dirty="0"/>
              <a:t>over-budget</a:t>
            </a:r>
            <a:r>
              <a:rPr lang="en-IN" dirty="0"/>
              <a:t> and </a:t>
            </a:r>
            <a:r>
              <a:rPr lang="en-IN" b="1" dirty="0"/>
              <a:t>within-budget</a:t>
            </a:r>
            <a:r>
              <a:rPr lang="en-IN" dirty="0"/>
              <a:t> departments. </a:t>
            </a:r>
          </a:p>
          <a:p>
            <a:r>
              <a:rPr lang="en-IN" dirty="0"/>
              <a:t>Profitability analysis highlighted product-wise financial performance. </a:t>
            </a:r>
          </a:p>
          <a:p>
            <a:r>
              <a:rPr lang="en-IN" dirty="0"/>
              <a:t>The executive dashboard provided a clear visualization of KPIs and trends. </a:t>
            </a:r>
          </a:p>
          <a:p>
            <a:r>
              <a:rPr lang="en-IN" dirty="0"/>
              <a:t>SQL queries enabled efficient data retrieval and financial analysis. </a:t>
            </a:r>
          </a:p>
          <a:p>
            <a:pPr marL="0" indent="0">
              <a:buNone/>
              <a:defRPr sz="2200"/>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tx2"/>
                </a:solidFill>
              </a:rPr>
              <a:t>Conclusion &amp; Future Scope</a:t>
            </a:r>
            <a:endParaRPr b="1" dirty="0">
              <a:solidFill>
                <a:schemeClr val="tx2"/>
              </a:solidFill>
            </a:endParaRPr>
          </a:p>
        </p:txBody>
      </p:sp>
      <p:sp>
        <p:nvSpPr>
          <p:cNvPr id="3" name="Content Placeholder 2"/>
          <p:cNvSpPr>
            <a:spLocks noGrp="1"/>
          </p:cNvSpPr>
          <p:nvPr>
            <p:ph idx="1"/>
          </p:nvPr>
        </p:nvSpPr>
        <p:spPr/>
        <p:txBody>
          <a:bodyPr>
            <a:normAutofit fontScale="70000" lnSpcReduction="20000"/>
          </a:bodyPr>
          <a:lstStyle/>
          <a:p>
            <a:pPr marL="0" indent="0">
              <a:buNone/>
            </a:pPr>
            <a:r>
              <a:rPr lang="en-IN" b="1" dirty="0"/>
              <a:t>Conclusion</a:t>
            </a:r>
          </a:p>
          <a:p>
            <a:r>
              <a:rPr lang="en-IN" dirty="0"/>
              <a:t>Successfully developed the </a:t>
            </a:r>
            <a:r>
              <a:rPr lang="en-IN" b="1" dirty="0" err="1"/>
              <a:t>FinInsight</a:t>
            </a:r>
            <a:r>
              <a:rPr lang="en-IN" dirty="0"/>
              <a:t> financial analytics solution. </a:t>
            </a:r>
          </a:p>
          <a:p>
            <a:r>
              <a:rPr lang="en-IN" dirty="0"/>
              <a:t>Performed budget, expense, and profitability analysis using </a:t>
            </a:r>
            <a:r>
              <a:rPr lang="en-IN" b="1" dirty="0"/>
              <a:t>Microsoft Excel</a:t>
            </a:r>
            <a:r>
              <a:rPr lang="en-IN" dirty="0"/>
              <a:t>. </a:t>
            </a:r>
          </a:p>
          <a:p>
            <a:r>
              <a:rPr lang="en-IN" dirty="0"/>
              <a:t>Built an interactive </a:t>
            </a:r>
            <a:r>
              <a:rPr lang="en-IN" b="1" dirty="0"/>
              <a:t>Executive Dashboard</a:t>
            </a:r>
            <a:r>
              <a:rPr lang="en-IN" dirty="0"/>
              <a:t> for effective visualization. </a:t>
            </a:r>
          </a:p>
          <a:p>
            <a:r>
              <a:rPr lang="en-IN" dirty="0"/>
              <a:t>Used </a:t>
            </a:r>
            <a:r>
              <a:rPr lang="en-IN" b="1" dirty="0"/>
              <a:t>SQL</a:t>
            </a:r>
            <a:r>
              <a:rPr lang="en-IN" dirty="0"/>
              <a:t> to manage and </a:t>
            </a:r>
            <a:r>
              <a:rPr lang="en-IN" dirty="0" err="1"/>
              <a:t>analyze</a:t>
            </a:r>
            <a:r>
              <a:rPr lang="en-IN" dirty="0"/>
              <a:t> financial data. </a:t>
            </a:r>
          </a:p>
          <a:p>
            <a:r>
              <a:rPr lang="en-IN" dirty="0"/>
              <a:t>The project supports better financial monitoring and decision-making. </a:t>
            </a:r>
          </a:p>
          <a:p>
            <a:pPr marL="0" indent="0">
              <a:buNone/>
            </a:pPr>
            <a:r>
              <a:rPr lang="en-IN" b="1" dirty="0"/>
              <a:t>Future Scope</a:t>
            </a:r>
          </a:p>
          <a:p>
            <a:r>
              <a:rPr lang="en-IN" dirty="0"/>
              <a:t>Integrate </a:t>
            </a:r>
            <a:r>
              <a:rPr lang="en-IN" b="1" dirty="0"/>
              <a:t>Power BI</a:t>
            </a:r>
            <a:r>
              <a:rPr lang="en-IN" dirty="0"/>
              <a:t> for interactive business intelligence dashboards. </a:t>
            </a:r>
          </a:p>
          <a:p>
            <a:r>
              <a:rPr lang="en-IN" dirty="0"/>
              <a:t>Connect the solution to a </a:t>
            </a:r>
            <a:r>
              <a:rPr lang="en-IN" b="1" dirty="0"/>
              <a:t>live database</a:t>
            </a:r>
            <a:r>
              <a:rPr lang="en-IN" dirty="0"/>
              <a:t> for real-time updates. </a:t>
            </a:r>
          </a:p>
          <a:p>
            <a:r>
              <a:rPr lang="en-IN" dirty="0"/>
              <a:t>Implement </a:t>
            </a:r>
            <a:r>
              <a:rPr lang="en-IN" b="1" dirty="0"/>
              <a:t>predictive analytics</a:t>
            </a:r>
            <a:r>
              <a:rPr lang="en-IN" dirty="0"/>
              <a:t> for budget forecasting. </a:t>
            </a:r>
          </a:p>
          <a:p>
            <a:r>
              <a:rPr lang="en-IN" dirty="0"/>
              <a:t>Add automated financial reports and alerts.</a:t>
            </a:r>
          </a:p>
          <a:p>
            <a:pPr>
              <a:defRPr sz="2200"/>
            </a:pP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107</TotalTime>
  <Words>688</Words>
  <Application>Microsoft Office PowerPoint</Application>
  <PresentationFormat>On-screen Show (4:3)</PresentationFormat>
  <Paragraphs>135</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FinInsight: Expense Control &amp; Profitability Analytics</vt:lpstr>
      <vt:lpstr>Project Overview</vt:lpstr>
      <vt:lpstr>Project Objectives</vt:lpstr>
      <vt:lpstr>Tools &amp; Technologies Used</vt:lpstr>
      <vt:lpstr>Dataset Description</vt:lpstr>
      <vt:lpstr>Purpose of Each Dataset</vt:lpstr>
      <vt:lpstr>Data Preparation &amp; Cleaning</vt:lpstr>
      <vt:lpstr>Key Performance Indicators (KPIs)</vt:lpstr>
      <vt:lpstr>Variance &amp; Alerts</vt:lpstr>
      <vt:lpstr>Profitability Analysis</vt:lpstr>
      <vt:lpstr>Executive Dashboard</vt:lpstr>
      <vt:lpstr>PowerPoint Presentation</vt:lpstr>
      <vt:lpstr>SQL Database &amp; Analysis</vt:lpstr>
      <vt:lpstr>PowerPoint Presentation</vt:lpstr>
      <vt:lpstr>Key Findings</vt:lpstr>
      <vt:lpstr>Conclusion &amp; Future Scope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Anouska Mandal</dc:creator>
  <cp:keywords/>
  <dc:description>generated using python-pptx</dc:description>
  <cp:lastModifiedBy>Anouska Mandal</cp:lastModifiedBy>
  <cp:revision>2</cp:revision>
  <dcterms:created xsi:type="dcterms:W3CDTF">2013-01-27T09:14:16Z</dcterms:created>
  <dcterms:modified xsi:type="dcterms:W3CDTF">2026-07-16T18:40:23Z</dcterms:modified>
  <cp:category/>
</cp:coreProperties>
</file>